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4937760"/>
            <a:ext cx="2011680" cy="2011680"/>
          </a:xfrm>
          <a:prstGeom prst="ellipse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45720"/>
            <a:ext cx="1371600" cy="1371600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" y="5760720"/>
            <a:ext cx="914400" cy="914400"/>
          </a:xfrm>
          <a:prstGeom prst="ellipse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6576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B6CF5"/>
                </a:solidFill>
              </a:rPr>
              <a:t>DEALIO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87168" y="365760"/>
            <a:ext cx="365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C2FF"/>
                </a:solidFill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078992"/>
            <a:ext cx="2926080" cy="36576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Real Estate Marketplace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C4FF"/>
                </a:solidFill>
              </a:rPr>
              <a:t>Connecting Builders · Channel Partners · Customers · Banks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34640"/>
            <a:ext cx="2286000" cy="1234440"/>
          </a:xfrm>
          <a:prstGeom prst="rect">
            <a:avLst/>
          </a:prstGeom>
          <a:solidFill>
            <a:srgbClr val="12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9260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C2FF"/>
                </a:solidFill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520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C4FF"/>
                </a:solidFill>
              </a:rPr>
              <a:t>User Roles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2834640"/>
            <a:ext cx="2286000" cy="1234440"/>
          </a:xfrm>
          <a:prstGeom prst="rect">
            <a:avLst/>
          </a:prstGeom>
          <a:solidFill>
            <a:srgbClr val="12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29260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C2FF"/>
                </a:solidFill>
              </a:rPr>
              <a:t>100+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520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C4FF"/>
                </a:solidFill>
              </a:rPr>
              <a:t>Pages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59" y="2834640"/>
            <a:ext cx="2286000" cy="1234440"/>
          </a:xfrm>
          <a:prstGeom prst="rect">
            <a:avLst/>
          </a:prstGeom>
          <a:solidFill>
            <a:srgbClr val="12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29260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C2FF"/>
                </a:solidFill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3520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C4FF"/>
                </a:solidFill>
              </a:rPr>
              <a:t>Core Modules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19" y="2834640"/>
            <a:ext cx="2286000" cy="1234440"/>
          </a:xfrm>
          <a:prstGeom prst="rect">
            <a:avLst/>
          </a:prstGeom>
          <a:solidFill>
            <a:srgbClr val="12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41080" y="29260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C2FF"/>
                </a:solidFill>
              </a:rPr>
              <a:t>Real-time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5204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AC4FF"/>
                </a:solidFill>
              </a:rPr>
              <a:t>Messaging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790C0"/>
                </a:solidFill>
              </a:rPr>
              <a:t>Full-Stack · Node.js + TypeScript · React · PostgreSQL · Android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1168"/>
            <a:ext cx="54864" cy="347472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566160" cy="73152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Fragmented Ecosystem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19072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Builders, CPs, customers &amp; banks use disconnected tools — WhatsApp, Excel, phone calls.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18872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188720"/>
            <a:ext cx="3566160" cy="73152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3258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No Lead Visibility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719072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Builders cannot track leads sourced by Channel Partners in real-time.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18872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188720"/>
            <a:ext cx="3566160" cy="73152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32588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Commission Disputes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1719072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Manual commission calculations cause delays and distrust between builders and CPs.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2044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3520440"/>
            <a:ext cx="3566160" cy="73152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6576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Customer 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050791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Buyers have zero visibility into their loan, deal stage, or project documents.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52044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0" y="3520440"/>
            <a:ext cx="3566160" cy="73152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6576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NRI Barriers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050791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NRI buyers face POA complexities, time-zone friction, and document chaos.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3520440"/>
            <a:ext cx="35661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3520440"/>
            <a:ext cx="3566160" cy="73152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80" y="36576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No Unified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80" y="4050791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Admins lack a single dashboard for platform health, fraud detection, and revenue.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Dealio – One Platform, Every Stakeholder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01168"/>
            <a:ext cx="54864" cy="347472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4FF"/>
                </a:solidFill>
              </a:rPr>
              <a:t>A unified real-estate marketplace that digitises the entire journey — discovery → deal → loan → possession.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3474720" cy="2148840"/>
          </a:xfrm>
          <a:prstGeom prst="rect">
            <a:avLst/>
          </a:prstGeom>
          <a:solidFill>
            <a:srgbClr val="12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3474720" cy="384048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66420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BUILDER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FF"/>
                </a:solidFill>
              </a:rPr>
              <a:t>Projects · Inventory
Leads · Analytics
RERA · Documents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600200"/>
            <a:ext cx="3474720" cy="2148840"/>
          </a:xfrm>
          <a:prstGeom prst="rect">
            <a:avLst/>
          </a:prstGeom>
          <a:solidFill>
            <a:srgbClr val="12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600200"/>
            <a:ext cx="3474720" cy="38404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166420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CHANNEL PARTNER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103120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FF"/>
                </a:solidFill>
              </a:rPr>
              <a:t>Leads · Pipeline
Commissions · Social
Referrals · AI Insights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600200"/>
            <a:ext cx="3474720" cy="2148840"/>
          </a:xfrm>
          <a:prstGeom prst="rect">
            <a:avLst/>
          </a:prstGeom>
          <a:solidFill>
            <a:srgbClr val="12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00200"/>
            <a:ext cx="3474720" cy="38404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66420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CUSTOMER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03120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FF"/>
                </a:solidFill>
              </a:rPr>
              <a:t>Discovery · EMI Calc
Loan Engine · Journey
Documents · Meetings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23360"/>
            <a:ext cx="3474720" cy="2148840"/>
          </a:xfrm>
          <a:prstGeom prst="rect">
            <a:avLst/>
          </a:prstGeom>
          <a:solidFill>
            <a:srgbClr val="12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023360"/>
            <a:ext cx="3474720" cy="38404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408736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526280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FF"/>
                </a:solidFill>
              </a:rPr>
              <a:t>Loan Cases · Docs
Status Updates
Analytics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4023360"/>
            <a:ext cx="3474720" cy="2148840"/>
          </a:xfrm>
          <a:prstGeom prst="rect">
            <a:avLst/>
          </a:prstGeom>
          <a:solidFill>
            <a:srgbClr val="12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0" y="4023360"/>
            <a:ext cx="3474720" cy="384048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15968" y="408736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NRI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526280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FF"/>
                </a:solidFill>
              </a:rPr>
              <a:t>Remote Invest
POA · Legal
NRI Calculator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720" y="4023360"/>
            <a:ext cx="3474720" cy="2148840"/>
          </a:xfrm>
          <a:prstGeom prst="rect">
            <a:avLst/>
          </a:prstGeom>
          <a:solidFill>
            <a:srgbClr val="12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4023360"/>
            <a:ext cx="3474720" cy="38404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56448" y="408736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ADMIN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526280"/>
            <a:ext cx="3108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DDFF"/>
                </a:solidFill>
              </a:rPr>
              <a:t>Users · Deals
Fraud · Revenue
Campaigns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1168"/>
            <a:ext cx="54864" cy="347472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4300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4864" cy="1234440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6CF5"/>
                </a:solidFill>
              </a:rPr>
              <a:t>CLIENTS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3619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• React/TypeScript Web App (Vite · shadcn/ui · TailwindCSS)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• Android App (Kotlin · Jetpack Compose · Hilt)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214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• Capacitor-wrapped Mobile PWA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06040"/>
            <a:ext cx="114300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606040"/>
            <a:ext cx="54864" cy="123444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974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98754"/>
                </a:solidFill>
              </a:rPr>
              <a:t>BACKEND  (Node.js + TypeScript · Express v5)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535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• Auth Controller  |  Builder Controller  |  CP Controller  |  Customer Controller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246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• JWT Auth Middleware · Google OAuth · Phone OTP · Multer (file uploads)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538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• Socket.io real-time messaging · PDF generation (pdfkit)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69080"/>
            <a:ext cx="114300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4069080"/>
            <a:ext cx="54864" cy="123444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1605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D7E14"/>
                </a:solidFill>
              </a:rPr>
              <a:t>DATA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4165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• PostgreSQL  ·  Prisma ORM  ·  12 domain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7091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• Migrations via schema.prisma  ·  File uploads stored in /uploads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440680"/>
            <a:ext cx="114300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440680"/>
            <a:ext cx="54864" cy="12344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5321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3545"/>
                </a:solidFill>
              </a:rPr>
              <a:t>INFRA / DEPLOY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7881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• Google Cloud Run (containerised)  ·  GitHub Actions CI/CD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080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• Docker  ·  .env-driven config  ·  Supabase (auth/storage option)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Core Data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01168"/>
            <a:ext cx="54864" cy="347472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2788920" cy="1353312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2788920" cy="320040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88136"/>
            <a:ext cx="2606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1731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id, phone, fullName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9163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email, role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659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preferredCity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051560"/>
            <a:ext cx="2788920" cy="1060704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17520" y="1051560"/>
            <a:ext cx="2788920" cy="320040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1088136"/>
            <a:ext cx="2606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Builder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79" y="141731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id, userId→User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79" y="169163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companyName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1051560"/>
            <a:ext cx="2788920" cy="1938528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0" y="1051560"/>
            <a:ext cx="2788920" cy="320040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1088136"/>
            <a:ext cx="2606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41731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id, builderId→Builder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169163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name, city, address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19659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totalUnits, availableUnits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2240279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priceFrom, priceTo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2514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reraNumber, status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23960" y="1051560"/>
            <a:ext cx="3063240" cy="1938528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23960" y="1051560"/>
            <a:ext cx="3063240" cy="320040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15400" y="1088136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ChannelPartner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1120" y="1417319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id, userId→User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1691639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tier (Silver/Gold/Platinum)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19659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totalDeals, totalEarnings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240279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rera/pan/aadhaar verified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251460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referredById (self-ref)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840480"/>
            <a:ext cx="2788920" cy="2231136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3840480"/>
            <a:ext cx="2788920" cy="320040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3877056"/>
            <a:ext cx="2606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Deal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2062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id, builderId→Builder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4805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customerId→User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7548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projectId→Project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0292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cpId→CP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3035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status, dealValue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5778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commissionStatus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520440" y="3840480"/>
            <a:ext cx="2788920" cy="1938528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520440" y="3840480"/>
            <a:ext cx="2788920" cy="32004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11880" y="3877056"/>
            <a:ext cx="2606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Meeting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42062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id, customerId→User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44805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builderId→Builder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47548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cpId→CP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0292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projectId→Project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530352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status, meetingType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63640" y="3840480"/>
            <a:ext cx="2788920" cy="1645920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63640" y="3840480"/>
            <a:ext cx="2788920" cy="32004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55079" y="3877056"/>
            <a:ext cx="2606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LoanCase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42062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id, dealId→Deal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448056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customerId→User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47548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loanAmount, propertyValue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0" y="50292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tenureMonths, status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23960" y="3840480"/>
            <a:ext cx="3063240" cy="1060704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823960" y="3840480"/>
            <a:ext cx="3063240" cy="32004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15400" y="3877056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Document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61120" y="420624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id, projectId→Project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61120" y="4480560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DFF"/>
                </a:solidFill>
              </a:rPr>
              <a:t>name, url, docType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Builder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PROJECT MANAGEMENT · SALES ·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5778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0292" cy="1280160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20700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Project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572768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Add/edit projects with wizard UI, Google Maps location, multi-image upload, RERA compliance, possession date and pricing bands.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97280"/>
            <a:ext cx="55778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097280"/>
            <a:ext cx="50292" cy="1280160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207007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Inventory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1572768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Real-time unit availability: total / booked / available / sold. Visual inventory board with drag-and-drop status updates.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514600"/>
            <a:ext cx="55778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514600"/>
            <a:ext cx="50292" cy="1280160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6243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Lead &amp; Deal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2990088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View all leads sourced by CPs or directly. Track deal stage from Enquiry → Booking → Registration → Possession.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514600"/>
            <a:ext cx="55778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514600"/>
            <a:ext cx="50292" cy="1280160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26243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Meetings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990088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Calendar-style meeting management. Confirm, reschedule, add notes. CP-arranged meetings auto-linked.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931920"/>
            <a:ext cx="55778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931920"/>
            <a:ext cx="50292" cy="1280160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40416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Documents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4407408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Upload and share RERA certificates, floor plans, brochures, legal docs per project. Secure URL sharing.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931920"/>
            <a:ext cx="55778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0292" cy="1280160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04164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Analytics &amp; AI Pricing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4407408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Revenue charts, CP performance ranking, demand heatmaps, and AI-powered dynamic pricing suggestions.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349240"/>
            <a:ext cx="55778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5349240"/>
            <a:ext cx="50292" cy="1280160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54589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Broadcast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5824728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Send WhatsApp / SMS broadcasts to leads and CPs about new launches, price revisions, offers.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5349240"/>
            <a:ext cx="55778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5349240"/>
            <a:ext cx="50292" cy="1280160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28232" y="545896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Virtual Tours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28232" y="5824728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Embed 360° tour links and video walkthroughs per project for remote buyers and NRIs.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Channel Partner (CP)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SALES ENABLEMENT · COMMISSIONS · SOCIAL MEDIA · AI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440680" cy="1234440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0292" cy="1234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527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Lead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Import contacts, tag hot leads, set BHK preference. Full pipeline Kanban: Contacted → Site Visit → Negotiation → Booked.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14600"/>
            <a:ext cx="5440680" cy="1234440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514600"/>
            <a:ext cx="50292" cy="1234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243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Commissions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718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Real-time commission tracker: pending / released / total earnings. Tier badge (Silver / Gold / Platinum).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86200"/>
            <a:ext cx="5440680" cy="1234440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886200"/>
            <a:ext cx="50292" cy="1234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959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Meeting Requests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3434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Arrange site visits for customers. Builder confirms/reschedules. CP gets notified instantly via Socket.io.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257800"/>
            <a:ext cx="5440680" cy="1234440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5257800"/>
            <a:ext cx="50292" cy="1234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3675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Project Catalogue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150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Browse builder listings, generate shareable project links with embedded CP referral token + click tracking.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1143000"/>
            <a:ext cx="5440680" cy="1234440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1143000"/>
            <a:ext cx="50292" cy="1234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12527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Content Studio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16002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Auto-generate property flyers (HTML→canvas), social media captions, and WhatsApp broadcast messages.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2514600"/>
            <a:ext cx="5440680" cy="1234440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2514600"/>
            <a:ext cx="50292" cy="1234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6243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Insights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9718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AI-driven lead scoring, optimal follow-up timing, market trend summaries per city.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3886200"/>
            <a:ext cx="5440680" cy="1234440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3886200"/>
            <a:ext cx="50292" cy="1234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9959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Leaderboard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43434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Monthly ranking among all CPs. Gamified influencer score based on social shares and leads sourced.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5257800"/>
            <a:ext cx="5440680" cy="1234440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55080" y="5257800"/>
            <a:ext cx="50292" cy="1234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53675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Referral Network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571500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Multi-level referral tree. Invite other CPs; earn bonus commission on their first deals.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Customer &amp; Bank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1168"/>
            <a:ext cx="54864" cy="347472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486400" cy="41148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61288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CUSTOMER JOURNEY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72768"/>
            <a:ext cx="5486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D5C"/>
                </a:solidFill>
              </a:rPr>
              <a:t>• Project discovery with map, filters, EMI preview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58568"/>
            <a:ext cx="5486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D5C"/>
                </a:solidFill>
              </a:rPr>
              <a:t>• Loan Engine: employmentType, tenure, eligibility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944368"/>
            <a:ext cx="5486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0175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D5C"/>
                </a:solidFill>
              </a:rPr>
              <a:t>• Deal tracking with real-time status &amp; messages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630168"/>
            <a:ext cx="5486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D5C"/>
                </a:solidFill>
              </a:rPr>
              <a:t>• Document vault: agreements, NOCs, allotment letters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315968"/>
            <a:ext cx="5486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3891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D5C"/>
                </a:solidFill>
              </a:rPr>
              <a:t>• Milestone journey: Booking → Construction → Possession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001768"/>
            <a:ext cx="5486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074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D5C"/>
                </a:solidFill>
              </a:rPr>
              <a:t>• Meeting scheduler with builder confirmation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687568"/>
            <a:ext cx="5486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760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D5C"/>
                </a:solidFill>
              </a:rPr>
              <a:t>• Top-up &amp; investment portfolio view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097280"/>
            <a:ext cx="5486400" cy="41148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1161288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BANK MODULE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572768"/>
            <a:ext cx="5486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1645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D5C"/>
                </a:solidFill>
              </a:rPr>
              <a:t>• Receive loan cases submitted from deals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258568"/>
            <a:ext cx="5486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331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D5C"/>
                </a:solidFill>
              </a:rPr>
              <a:t>• View full customer profile, loan amount, property value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944368"/>
            <a:ext cx="5486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0175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D5C"/>
                </a:solidFill>
              </a:rPr>
              <a:t>• Document inbox: income proof, ID, property docs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630168"/>
            <a:ext cx="5486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7033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D5C"/>
                </a:solidFill>
              </a:rPr>
              <a:t>• Update loan status: Active → Sanctioned → Disbursed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315968"/>
            <a:ext cx="5486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3891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D5C"/>
                </a:solidFill>
              </a:rPr>
              <a:t>• Analytics: approval rates, portfolio health, risk segmentation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5001768"/>
            <a:ext cx="54864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40" y="50749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D5C"/>
                </a:solidFill>
              </a:rPr>
              <a:t>• Fraud flag alerts from admin layer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NRI Module &amp; Admin Control Centre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01168"/>
            <a:ext cx="54864" cy="347472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440680" cy="384048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698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NRI MODULE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440680" cy="713232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3619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D7E14"/>
                </a:solidFill>
              </a:rPr>
              <a:t>Remote Investment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105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Browse, shortlist and book projects from abroad.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58568"/>
            <a:ext cx="5440680" cy="713232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D7E14"/>
                </a:solidFill>
              </a:rPr>
              <a:t>NRI Calculator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Currency conversion, tax implications, ROI projections.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054096"/>
            <a:ext cx="5440680" cy="713232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272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D7E14"/>
                </a:solidFill>
              </a:rPr>
              <a:t>POA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015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Upload &amp; track Power of Attorney documents digitally.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49624"/>
            <a:ext cx="5440680" cy="713232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2277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D7E14"/>
                </a:solidFill>
              </a:rPr>
              <a:t>Legal Advisory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9709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FEMA guidelines, repatriation rules, legal resource hub.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645152"/>
            <a:ext cx="5440680" cy="713232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71830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D7E14"/>
                </a:solidFill>
              </a:rPr>
              <a:t>NRI Loan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9262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Home loan eligibility for NRIs with NRE/NRO account linking.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440679"/>
            <a:ext cx="5440680" cy="713232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513831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D7E14"/>
                </a:solidFill>
              </a:rPr>
              <a:t>Journey Tracker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788151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End-to-end possession milestone view remotely.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1005840"/>
            <a:ext cx="5440680" cy="38404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0698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ADMIN CONTROL CENTRE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1463040"/>
            <a:ext cx="5440680" cy="713232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153619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3545"/>
                </a:solidFill>
              </a:rPr>
              <a:t>User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18105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Onboard/deactivate builders, CPs, customers, banks.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2258568"/>
            <a:ext cx="5440680" cy="713232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23317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3545"/>
                </a:solidFill>
              </a:rPr>
              <a:t>Deal Oversight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2606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View all deals platform-wide; intervene or escalate.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3054096"/>
            <a:ext cx="5440680" cy="713232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312724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3545"/>
                </a:solidFill>
              </a:rPr>
              <a:t>Revenue Dashboard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40156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GMV, commission payouts, monthly growth charts.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3849624"/>
            <a:ext cx="5440680" cy="713232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392277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3545"/>
                </a:solidFill>
              </a:rPr>
              <a:t>Fraud Detection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19709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Flag suspicious deals, duplicate KYC, unusual patterns.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4645152"/>
            <a:ext cx="5440680" cy="713232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471830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3545"/>
                </a:solidFill>
              </a:rPr>
              <a:t>Campaigns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60" y="499262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Launch marketing campaigns; track reach and conversions.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55080" y="5440679"/>
            <a:ext cx="5440680" cy="713232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5513831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3545"/>
                </a:solidFill>
              </a:rPr>
              <a:t>RERA Compliance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5788151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Monitor all project RERA expiry dates; send reminders.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1168"/>
            <a:ext cx="54864" cy="347472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65176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2651760" cy="384048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1612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65506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React 18 + TypeScript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075688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13055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Vite (build tool)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51176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60604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shadcn/ui + Radix UI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026664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308152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TailwindCSS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502152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55701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TanStack React Query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977639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03250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Zustand (state)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453128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50799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React Hook Form + Zod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928616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98348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Recharts (analytics)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404104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545896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Leaflet (maps)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879592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593445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Socket.io-client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1097280"/>
            <a:ext cx="265176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46120" y="1097280"/>
            <a:ext cx="2651760" cy="384048"/>
          </a:xfrm>
          <a:prstGeom prst="rect">
            <a:avLst/>
          </a:prstGeom>
          <a:solidFill>
            <a:srgbClr val="1987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55848" y="11612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79" y="1600200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02152" y="165506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Node.js + TypeScript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79" y="2075688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02152" y="213055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Express v5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83279" y="2551176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02152" y="260604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Prisma ORM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83279" y="3026664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02152" y="308152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PostgreSQL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3279" y="3502152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02152" y="355701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JWT (jsonwebtoken)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383279" y="3977639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02152" y="403250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Google Auth Library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83279" y="4453128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02152" y="450799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Socket.io (real-time)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79" y="4928616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02152" y="498348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Multer (file uploads)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83279" y="5404104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02152" y="545896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pdfkit (PDF gen)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83279" y="5879592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02152" y="593445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Zod (validation)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26480" y="1097280"/>
            <a:ext cx="265176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126480" y="1097280"/>
            <a:ext cx="2651760" cy="384048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36208" y="11612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Mobile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63640" y="1600200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82512" y="165506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Android (Kotlin)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63640" y="2075688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82512" y="213055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Jetpack Compose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63640" y="2551176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82512" y="260604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Hilt (DI)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63640" y="3026664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82512" y="308152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Capacitor PWA bridge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63640" y="3502152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82512" y="355701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Retrofit / OkHttp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63640" y="3977639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82512" y="403250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Coroutines / Flow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06840" y="1097280"/>
            <a:ext cx="265176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006840" y="1097280"/>
            <a:ext cx="2651760" cy="38404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16567" y="11612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DevOps/Infra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44000" y="1600200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62872" y="165506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Google Cloud Run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144000" y="2075688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62872" y="213055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Docker containers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44000" y="2551176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62872" y="2606040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GitHub Actions CI/CD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144000" y="3026664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262872" y="308152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Cloud Build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144000" y="3502152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262872" y="355701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Supabase (auth/storage)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144000" y="3977639"/>
            <a:ext cx="23774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262872" y="403250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PostgreSQL managed DB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Features &amp; Differentiators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01168"/>
            <a:ext cx="54864" cy="347472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577840" cy="1252728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4864" cy="1252728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Real-time Messaging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7276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</a:rPr>
              <a:t>Socket.io-powered deal thread between builder, CP, customer, and bank. No more WhatsApp chaos.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097280"/>
            <a:ext cx="5577840" cy="1252728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097280"/>
            <a:ext cx="54864" cy="125272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1887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Shareable Project Links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57276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</a:rPr>
              <a:t>CPs generate tokenised links. Every click/lead is attributed back automatically — zero disputes.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87168"/>
            <a:ext cx="5577840" cy="1252728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2487168"/>
            <a:ext cx="54864" cy="125272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5786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AI Pricing &amp; 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962656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</a:rPr>
              <a:t>Builder gets AI-suggested price corrections; CP gets AI lead scoring and optimal outreach timing.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487168"/>
            <a:ext cx="5577840" cy="1252728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487168"/>
            <a:ext cx="54864" cy="1252728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5786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Flyer &amp; Content Studio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962656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</a:rPr>
              <a:t>Auto-generate branded social media flyers and WhatsApp broadcasts in one click.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77056"/>
            <a:ext cx="5577840" cy="1252728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877056"/>
            <a:ext cx="54864" cy="1252728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96849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Tiered CP Gamification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52544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</a:rPr>
              <a:t>Silver/Gold/Platinum tiers unlock features. Monthly leaderboard drives healthy competition.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3877056"/>
            <a:ext cx="5577840" cy="1252728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3877056"/>
            <a:ext cx="54864" cy="1252728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96849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End-to-End Loan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4352544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</a:rPr>
              <a:t>Customer fills EMI calc → deal is created → loan case sent to bank → status tracked in-app.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266944"/>
            <a:ext cx="5577840" cy="1252728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5266944"/>
            <a:ext cx="54864" cy="1252728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358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NRI-First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742432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</a:rPr>
              <a:t>Currency converter, FEMA legal guide, POA upload, remote site-visit via virtual tour.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5266944"/>
            <a:ext cx="5577840" cy="1252728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63640" y="5266944"/>
            <a:ext cx="54864" cy="1252728"/>
          </a:xfrm>
          <a:prstGeom prst="rect">
            <a:avLst/>
          </a:prstGeom>
          <a:solidFill>
            <a:srgbClr val="20C9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5358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RERA Compliance 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46520" y="5742432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CCEE"/>
                </a:solidFill>
              </a:rPr>
              <a:t>Store RERA numbers, expiry tracking, document upload with admin oversight.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Authentication &amp;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1168"/>
            <a:ext cx="54864" cy="347472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9659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1188720"/>
            <a:ext cx="594360" cy="594360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1887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019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1F44"/>
                </a:solidFill>
              </a:rPr>
              <a:t>Phone OTP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3172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44D5C"/>
                </a:solidFill>
              </a:rPr>
              <a:t>User enters phone number
→ OTP sent via SMS
→ Verified on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24028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6CF5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188720"/>
            <a:ext cx="19659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188720"/>
            <a:ext cx="594360" cy="594360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1887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19019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1F44"/>
                </a:solidFill>
              </a:rPr>
              <a:t>Google OAuth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7208" y="233172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44D5C"/>
                </a:solidFill>
              </a:rPr>
              <a:t>GoogleAuthProvider flow
→ ID token validated
→ User record upserted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24028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6CF5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1188720"/>
            <a:ext cx="19659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23560" y="1188720"/>
            <a:ext cx="594360" cy="594360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23560" y="11887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19019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1F44"/>
                </a:solidFill>
              </a:rPr>
              <a:t>JWT Issued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7488" y="233172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44D5C"/>
                </a:solidFill>
              </a:rPr>
              <a:t>Access token (short TTL)
Refresh token (long TTL)
Stored in localStorage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24028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6CF5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78040" y="1188720"/>
            <a:ext cx="19659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1188720"/>
            <a:ext cx="594360" cy="594360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11887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7768" y="19019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1F44"/>
                </a:solidFill>
              </a:rPr>
              <a:t>Protected Routes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7768" y="233172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44D5C"/>
                </a:solidFill>
              </a:rPr>
              <a:t>ProtectedRoute wrapper
checks useAuthStore
.isAuthenticated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224028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6CF5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18320" y="1188720"/>
            <a:ext cx="196596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104120" y="1188720"/>
            <a:ext cx="594360" cy="594360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04120" y="118872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28048" y="19019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1F44"/>
                </a:solidFill>
              </a:rPr>
              <a:t>Refresh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8048" y="233172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444D5C"/>
                </a:solidFill>
              </a:rPr>
              <a:t>/api/auth/refresh
silently renews
access token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3931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1F44"/>
                </a:solidFill>
              </a:rPr>
              <a:t>Security Measures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38912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480559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D5C"/>
                </a:solidFill>
              </a:rPr>
              <a:t>🔒 JWT with short access token TTL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97680" y="438912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480559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D5C"/>
                </a:solidFill>
              </a:rPr>
              <a:t>🔒 Role-based route protection (8 roles)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92440" y="4389120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4480559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D5C"/>
                </a:solidFill>
              </a:rPr>
              <a:t>🔒 Zod schema validation on all API inputs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5047488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5138927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D5C"/>
                </a:solidFill>
              </a:rPr>
              <a:t>🔒 Multer file type/size limits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97680" y="5047488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34840" y="5138927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D5C"/>
                </a:solidFill>
              </a:rPr>
              <a:t>🔒 CORS configured per environment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92440" y="5047488"/>
            <a:ext cx="356616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0" y="5138927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44D5C"/>
                </a:solidFill>
              </a:rPr>
              <a:t>🔒 Google OAuth token server-side verification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Deployment &amp; DevOps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01168"/>
            <a:ext cx="54864" cy="347472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005840"/>
            <a:ext cx="1600200" cy="914400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Code Push
git push 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0552" y="129844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39" y="1005840"/>
            <a:ext cx="1600200" cy="91440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097280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GitHub Actions
CI 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5072" y="129844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005840"/>
            <a:ext cx="1600200" cy="91440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399" y="1097280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Docker Build
&amp;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9592" y="129844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79" y="1005840"/>
            <a:ext cx="1600200" cy="91440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19" y="1097280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Cloud Build
GCP Registry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1" y="129844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1005840"/>
            <a:ext cx="1600200" cy="9144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1097280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Cloud Run
Deploy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28632" y="129844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0" y="1005840"/>
            <a:ext cx="1600200" cy="9144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1097280"/>
            <a:ext cx="1417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Live
✓ Production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194560"/>
            <a:ext cx="5577840" cy="1371600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2194560"/>
            <a:ext cx="50292" cy="1371600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Google Cloud Run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69748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Containerised, auto-scaling. Zero server management. Pay per request.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194560"/>
            <a:ext cx="5577840" cy="1371600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2194560"/>
            <a:ext cx="50292" cy="1371600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3317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Docker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269748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Multi-stage Dockerfile. Builds TypeScript, runs compiled JS in Alpine.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703320"/>
            <a:ext cx="5577840" cy="1371600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3703320"/>
            <a:ext cx="50292" cy="1371600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8404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GitHub 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20624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On push to main: lint → build → docker push → Cloud Run deploy.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703320"/>
            <a:ext cx="5577840" cy="1371600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3703320"/>
            <a:ext cx="50292" cy="1371600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38404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Environment Config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20624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.env driven: DATABASE_URL, JWT_SECRET, GOOGLE_CLIENT_ID, NODE_ENV.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212079"/>
            <a:ext cx="5577840" cy="1371600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5212079"/>
            <a:ext cx="50292" cy="1371600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349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PostgreSQL (Cloud)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714999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Managed Postgres via Cloud SQL or Supabase. Prisma handles migrations.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5212079"/>
            <a:ext cx="5577840" cy="1371600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5212079"/>
            <a:ext cx="50292" cy="1371600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46520" y="53492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Supabase Integration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5714999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DFF"/>
                </a:solidFill>
              </a:rPr>
              <a:t>Auth, object storage, and real-time subscriptions as a service layer option.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Android Mobile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NATIVE KOTLIN · JETPACK COMPOSE · HILT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440680" cy="12527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0292" cy="1252728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527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Kotlin + Jetpack Compose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18488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100% Kotlin codebase. Compose-first UI with Material 3 design system. Dark/Light theme support.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532888"/>
            <a:ext cx="5440680" cy="12527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532888"/>
            <a:ext cx="50292" cy="1252728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4261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Hilt Dependency Injection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008376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Hilt (Dagger) manages ViewModels, repositories, network clients for testable clean architecture.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22776"/>
            <a:ext cx="5440680" cy="12527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922776"/>
            <a:ext cx="50292" cy="1252728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3250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Retrofit + OkHttp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398264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Type-safe REST client. Interceptors for JWT injection. Connects to backend at 10.0.2.2:8090 (dev).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312664"/>
            <a:ext cx="5440680" cy="12527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5312664"/>
            <a:ext cx="50292" cy="1252728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4223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Coroutines &amp;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788152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Async network calls with coroutines. StateFlow for reactive UI updates without blocking main thread.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143000"/>
            <a:ext cx="5440680" cy="12527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60" y="1143000"/>
            <a:ext cx="50292" cy="1252728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25272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Multi-Role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618488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Same app serves Builder, CP, Customer and Bank with role-based navigation and feature gating.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532888"/>
            <a:ext cx="5440680" cy="12527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2532888"/>
            <a:ext cx="50292" cy="1252728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642616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Shared Project Links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008376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Deep-link handling for CP share tokens. Opens project detail directly from WhatsApp/SMS links.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922776"/>
            <a:ext cx="5440680" cy="12527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922776"/>
            <a:ext cx="50292" cy="1252728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032504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Offline-First Hints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398264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Local caching of project catalogue for browsing without connectivity.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5312664"/>
            <a:ext cx="5440680" cy="125272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5312664"/>
            <a:ext cx="50292" cy="1252728"/>
          </a:xfrm>
          <a:prstGeom prst="rect">
            <a:avLst/>
          </a:prstGeom>
          <a:solidFill>
            <a:srgbClr val="3DDC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42239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Capacitor Bridge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788152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D5C"/>
                </a:solidFill>
              </a:rPr>
              <a:t>Frontend PWA can also be packaged via Capacitor for hybrid deployment alongside native app.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Roadmap &amp; Future Enhancements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01168"/>
            <a:ext cx="54864" cy="347472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566160" cy="5486400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566160" cy="502920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1 – Core
(Complete)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27632"/>
            <a:ext cx="3291840" cy="566928"/>
          </a:xfrm>
          <a:prstGeom prst="rect">
            <a:avLst/>
          </a:prstGeom>
          <a:solidFill>
            <a:srgbClr val="15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</a:rPr>
              <a:t>• Multi-role auth (Phone OTP + Google OAuth)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3291840" cy="566928"/>
          </a:xfrm>
          <a:prstGeom prst="rect">
            <a:avLst/>
          </a:prstGeom>
          <a:solidFill>
            <a:srgbClr val="15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</a:rPr>
              <a:t>• Builder project management &amp; inventory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944368"/>
            <a:ext cx="3291840" cy="566928"/>
          </a:xfrm>
          <a:prstGeom prst="rect">
            <a:avLst/>
          </a:prstGeom>
          <a:solidFill>
            <a:srgbClr val="15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08376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</a:rPr>
              <a:t>• CP pipeline, commissions, share links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02736"/>
            <a:ext cx="3291840" cy="566928"/>
          </a:xfrm>
          <a:prstGeom prst="rect">
            <a:avLst/>
          </a:prstGeom>
          <a:solidFill>
            <a:srgbClr val="15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666744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</a:rPr>
              <a:t>• Customer discovery, EMI calc, deal tracking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261104"/>
            <a:ext cx="3291840" cy="566928"/>
          </a:xfrm>
          <a:prstGeom prst="rect">
            <a:avLst/>
          </a:prstGeom>
          <a:solidFill>
            <a:srgbClr val="15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325112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</a:rPr>
              <a:t>• Bank loan case management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919472"/>
            <a:ext cx="3291840" cy="566928"/>
          </a:xfrm>
          <a:prstGeom prst="rect">
            <a:avLst/>
          </a:prstGeom>
          <a:solidFill>
            <a:srgbClr val="15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83479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</a:rPr>
              <a:t>• Real-time messaging (Socket.io)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577840"/>
            <a:ext cx="3291840" cy="566928"/>
          </a:xfrm>
          <a:prstGeom prst="rect">
            <a:avLst/>
          </a:prstGeom>
          <a:solidFill>
            <a:srgbClr val="15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641848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</a:rPr>
              <a:t>• Admin control centre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1005840"/>
            <a:ext cx="3566160" cy="5486400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06240" y="1005840"/>
            <a:ext cx="3566160" cy="502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1051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Phase 2 – Growth
(In Progress)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1627632"/>
            <a:ext cx="3291840" cy="566928"/>
          </a:xfrm>
          <a:prstGeom prst="rect">
            <a:avLst/>
          </a:prstGeom>
          <a:solidFill>
            <a:srgbClr val="15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80560" y="1691640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</a:rPr>
              <a:t>• AI pricing recommendations (Builder)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2286000"/>
            <a:ext cx="3291840" cy="566928"/>
          </a:xfrm>
          <a:prstGeom prst="rect">
            <a:avLst/>
          </a:prstGeom>
          <a:solidFill>
            <a:srgbClr val="15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60" y="2350008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</a:rPr>
              <a:t>• AI lead scoring &amp; follow-up timing (CP)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2944368"/>
            <a:ext cx="3291840" cy="566928"/>
          </a:xfrm>
          <a:prstGeom prst="rect">
            <a:avLst/>
          </a:prstGeom>
          <a:solidFill>
            <a:srgbClr val="15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3008376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</a:rPr>
              <a:t>• Content Studio – auto flyer + social copy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02736"/>
            <a:ext cx="3291840" cy="566928"/>
          </a:xfrm>
          <a:prstGeom prst="rect">
            <a:avLst/>
          </a:prstGeom>
          <a:solidFill>
            <a:srgbClr val="15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0" y="3666744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</a:rPr>
              <a:t>• Virtual tours &amp; 360° embed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4261104"/>
            <a:ext cx="3291840" cy="566928"/>
          </a:xfrm>
          <a:prstGeom prst="rect">
            <a:avLst/>
          </a:prstGeom>
          <a:solidFill>
            <a:srgbClr val="15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4325112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</a:rPr>
              <a:t>• NRI module completion (POA, legal hub)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3400" y="4919472"/>
            <a:ext cx="3291840" cy="566928"/>
          </a:xfrm>
          <a:prstGeom prst="rect">
            <a:avLst/>
          </a:prstGeom>
          <a:solidFill>
            <a:srgbClr val="15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4983479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</a:rPr>
              <a:t>• WhatsApp Business API integration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43400" y="5577840"/>
            <a:ext cx="3291840" cy="566928"/>
          </a:xfrm>
          <a:prstGeom prst="rect">
            <a:avLst/>
          </a:prstGeom>
          <a:solidFill>
            <a:srgbClr val="15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60" y="5641848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</a:rPr>
              <a:t>• Advanced analytics dashboards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1005840"/>
            <a:ext cx="3566160" cy="5486400"/>
          </a:xfrm>
          <a:prstGeom prst="rect">
            <a:avLst/>
          </a:prstGeom>
          <a:solidFill>
            <a:srgbClr val="0E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46720" y="1005840"/>
            <a:ext cx="3566160" cy="50292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3880" y="1051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F44"/>
                </a:solidFill>
              </a:rPr>
              <a:t>Phase 3 – Scale
(Planned)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83880" y="1627632"/>
            <a:ext cx="3291840" cy="566928"/>
          </a:xfrm>
          <a:prstGeom prst="rect">
            <a:avLst/>
          </a:prstGeom>
          <a:solidFill>
            <a:srgbClr val="15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1691640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</a:rPr>
              <a:t>• Payment gateway (token amount, booking)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83880" y="2286000"/>
            <a:ext cx="3291840" cy="566928"/>
          </a:xfrm>
          <a:prstGeom prst="rect">
            <a:avLst/>
          </a:prstGeom>
          <a:solidFill>
            <a:srgbClr val="15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2350008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</a:rPr>
              <a:t>• Blockchain-based document notarisation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83880" y="2944368"/>
            <a:ext cx="3291840" cy="566928"/>
          </a:xfrm>
          <a:prstGeom prst="rect">
            <a:avLst/>
          </a:prstGeom>
          <a:solidFill>
            <a:srgbClr val="15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3008376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</a:rPr>
              <a:t>• Multi-city expansion with geo-routing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83880" y="3602736"/>
            <a:ext cx="3291840" cy="566928"/>
          </a:xfrm>
          <a:prstGeom prst="rect">
            <a:avLst/>
          </a:prstGeom>
          <a:solidFill>
            <a:srgbClr val="15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1040" y="3666744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</a:rPr>
              <a:t>• Vendor marketplace (interior, legal, movers)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83880" y="4261104"/>
            <a:ext cx="3291840" cy="566928"/>
          </a:xfrm>
          <a:prstGeom prst="rect">
            <a:avLst/>
          </a:prstGeom>
          <a:solidFill>
            <a:srgbClr val="15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40" y="4325112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</a:rPr>
              <a:t>• Land owner deal structuring module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83880" y="4919472"/>
            <a:ext cx="3291840" cy="566928"/>
          </a:xfrm>
          <a:prstGeom prst="rect">
            <a:avLst/>
          </a:prstGeom>
          <a:solidFill>
            <a:srgbClr val="15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40" y="4983479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</a:rPr>
              <a:t>• Marketplace API for third-party integrations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83880" y="5577840"/>
            <a:ext cx="3291840" cy="566928"/>
          </a:xfrm>
          <a:prstGeom prst="rect">
            <a:avLst/>
          </a:prstGeom>
          <a:solidFill>
            <a:srgbClr val="153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21040" y="5641848"/>
            <a:ext cx="3063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DFF"/>
                </a:solidFill>
              </a:rPr>
              <a:t>• ML demand forecasting engine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4937760"/>
            <a:ext cx="2011680" cy="2011680"/>
          </a:xfrm>
          <a:prstGeom prst="ellipse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018520" y="45720"/>
            <a:ext cx="1371600" cy="1371600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" y="5760720"/>
            <a:ext cx="914400" cy="914400"/>
          </a:xfrm>
          <a:prstGeom prst="ellipse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109728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DEALIO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148840"/>
            <a:ext cx="7772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00C2FF"/>
                </a:solidFill>
              </a:rPr>
              <a:t>Real Estate. Reimagined.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2834640"/>
            <a:ext cx="4023360" cy="36576"/>
          </a:xfrm>
          <a:prstGeom prst="rect">
            <a:avLst/>
          </a:prstGeom>
          <a:solidFill>
            <a:srgbClr val="1B6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3154680"/>
            <a:ext cx="2286000" cy="1463040"/>
          </a:xfrm>
          <a:prstGeom prst="rect">
            <a:avLst/>
          </a:prstGeom>
          <a:solidFill>
            <a:srgbClr val="12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7" y="3246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2FF"/>
                </a:solidFill>
              </a:rPr>
              <a:t>8 User Roles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3639312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C4FF"/>
                </a:solidFill>
              </a:rPr>
              <a:t>Builder · CP · Customer · Bank
NRI · Admin · Landowner · Vendor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3154680"/>
            <a:ext cx="2286000" cy="1463040"/>
          </a:xfrm>
          <a:prstGeom prst="rect">
            <a:avLst/>
          </a:prstGeom>
          <a:solidFill>
            <a:srgbClr val="12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7328" y="3246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2FF"/>
                </a:solidFill>
              </a:rPr>
              <a:t>Full-Stack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67328" y="3639312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C4FF"/>
                </a:solidFill>
              </a:rPr>
              <a:t>Node.js + TypeScript · React
PostgreSQL · Prisma · Socket.io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154680"/>
            <a:ext cx="2286000" cy="1463040"/>
          </a:xfrm>
          <a:prstGeom prst="rect">
            <a:avLst/>
          </a:prstGeom>
          <a:solidFill>
            <a:srgbClr val="12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3246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2FF"/>
                </a:solidFill>
              </a:rPr>
              <a:t>Multi-Platform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3639312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C4FF"/>
                </a:solidFill>
              </a:rPr>
              <a:t>Web App · Android Kotlin
Capacitor Mobile PWA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39" y="3154680"/>
            <a:ext cx="2286000" cy="1463040"/>
          </a:xfrm>
          <a:prstGeom prst="rect">
            <a:avLst/>
          </a:prstGeom>
          <a:solidFill>
            <a:srgbClr val="122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87967" y="32461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2FF"/>
                </a:solidFill>
              </a:rPr>
              <a:t>Cloud-Native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7" y="3639312"/>
            <a:ext cx="2103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AAC4FF"/>
                </a:solidFill>
              </a:rPr>
              <a:t>Google Cloud Run · Docker
GitHub Actions CI/CD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892040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7150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790C0"/>
                </a:solidFill>
              </a:rPr>
              <a:t>veeravenkata.pusuluri@gmail.com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